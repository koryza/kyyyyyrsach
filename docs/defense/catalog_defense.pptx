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Представиться, назвать тему и цель. Автор: Чемоданов Никита Сергеевич, группа ИПо-41. Это действующее локальное приложение, а не внедрённая промышленная система.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Пояснить границы: товары и категории, без оплаты и доставки. Поиск и фильтры можно комбинировать; остаток — текущее число, не журнал склада.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Объяснить идентификаторы и внешний ключ. Цена в копейках исключает float, количество неотрицательно. Категория с товарами не удаляется. Иерархия категорий не реализована.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Проследить запрос: страница или API вызывает catalog.py. SQLAlchemy работает с SQLite. После успешного POST выполняется 303 и GET. При конфликте транзакция откатывается.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реальный список. Фильтры применяются вместе, сохраняются в URL и ссылках страниц. Подчеркнуть, что интерфейс использует локальные стили и основные формы работают без JavaScript.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1200 товаров в 12 категориях. Цены и остатки условные. Загрузчик сохраняет backup, пропускает существующие артикулы, добавляет недостающее одной транзакцией. Повторный запуск не возвращает изменённую цену к исходной.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Проверки базы, API, HTML и загрузчика. Отдельно 14 сценариев интерфейса и 6 на большом наборе. Есть одно известное предупреждение TestClient/HTTPX. Число проверок не означает отсутствие всех ошибок и не заменяет нагрузочное тестирование.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Завершить перечислением результата. Обозначить отсутствие авторизации, миграций и журнала остатков. Дальнейшее развитие — роли пользователей, история операций и проверка одновременной работы. Приступить к короткой живой демонстрации.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118872" cy="429768"/>
          </a:xfrm>
          <a:prstGeom prst="rect">
            <a:avLst/>
          </a:prstGeom>
          <a:solidFill>
            <a:srgbClr val="345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8253B"/>
                </a:solidFill>
                <a:latin typeface="Arial"/>
              </a:defRPr>
            </a:pPr>
            <a:r>
              <a:t>Модуль управления каталогом товаров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Arial"/>
              </a:defRPr>
            </a:pPr>
            <a:r>
              <a:t>Курсовая работа · Python / FastAPI / SQLite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МФЮА · Учебный проект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01 /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68580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4400" b="1">
                <a:solidFill>
                  <a:srgbClr val="18253B"/>
                </a:solidFill>
                <a:latin typeface="Arial"/>
              </a:defRPr>
            </a:pPr>
            <a:r>
              <a:t>Товары, категории,</a:t>
            </a:r>
          </a:p>
          <a:p>
            <a:pPr>
              <a:spcAft>
                <a:spcPts val="1200"/>
              </a:spcAft>
              <a:defRPr sz="4400" b="1">
                <a:solidFill>
                  <a:srgbClr val="18253B"/>
                </a:solidFill>
                <a:latin typeface="Arial"/>
              </a:defRPr>
            </a:pPr>
            <a:r>
              <a:t>цены и остатки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434840"/>
            <a:ext cx="1060704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64748B"/>
                </a:solidFill>
                <a:latin typeface="Arial"/>
              </a:defRPr>
            </a:pPr>
            <a:r>
              <a:t>Чемоданов Никита Сергеевич · ИПо-41</a:t>
            </a:r>
          </a:p>
          <a:p>
            <a:pPr>
              <a:spcAft>
                <a:spcPts val="1200"/>
              </a:spcAft>
              <a:defRPr sz="1700" b="0">
                <a:solidFill>
                  <a:srgbClr val="64748B"/>
                </a:solidFill>
                <a:latin typeface="Arial"/>
              </a:defRPr>
            </a:pPr>
            <a:r>
              <a:t>Разработка программных модулей</a:t>
            </a:r>
          </a:p>
          <a:p>
            <a:pPr>
              <a:spcAft>
                <a:spcPts val="1200"/>
              </a:spcAft>
              <a:defRPr sz="1700" b="0">
                <a:solidFill>
                  <a:srgbClr val="64748B"/>
                </a:solidFill>
                <a:latin typeface="Arial"/>
              </a:defRPr>
            </a:pPr>
            <a:r>
              <a:t>Руководитель: Колпащиков Кирилл Александрович · Киров,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2240280"/>
            <a:ext cx="2651760" cy="2651760"/>
          </a:xfrm>
          <a:prstGeom prst="roundRect">
            <a:avLst/>
          </a:prstGeom>
          <a:solidFill>
            <a:srgbClr val="345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45168" y="2468880"/>
            <a:ext cx="1188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9200" b="1">
                <a:solidFill>
                  <a:srgbClr val="FFFFFF"/>
                </a:solidFill>
                <a:latin typeface="Arial"/>
              </a:defRPr>
            </a:pPr>
            <a:r>
              <a:t>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118872" cy="429768"/>
          </a:xfrm>
          <a:prstGeom prst="rect">
            <a:avLst/>
          </a:prstGeom>
          <a:solidFill>
            <a:srgbClr val="345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8253B"/>
                </a:solidFill>
                <a:latin typeface="Arial"/>
              </a:defRPr>
            </a:pPr>
            <a:r>
              <a:t>Цель и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Arial"/>
              </a:defRPr>
            </a:pPr>
            <a:r>
              <a:t>Менеджер ведёт ассортимент через браузер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МФЮА · Учебный проект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02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356616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345DE3"/>
                </a:solidFill>
                <a:latin typeface="Arial"/>
              </a:defRPr>
            </a:pPr>
            <a:r>
              <a:t>01  Данные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310896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8253B"/>
                </a:solidFill>
                <a:latin typeface="Arial"/>
              </a:defRPr>
            </a:pPr>
            <a:r>
              <a:t>Создавать и изменять товары</a:t>
            </a:r>
          </a:p>
          <a:p>
            <a:pPr>
              <a:spcAft>
                <a:spcPts val="1200"/>
              </a:spcAft>
              <a:defRPr sz="2100" b="0">
                <a:solidFill>
                  <a:srgbClr val="18253B"/>
                </a:solidFill>
                <a:latin typeface="Arial"/>
              </a:defRPr>
            </a:pPr>
            <a:r>
              <a:t>и категории, просматривать карточки.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7992" y="2057400"/>
            <a:ext cx="356616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242316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345DE3"/>
                </a:solidFill>
                <a:latin typeface="Arial"/>
              </a:defRPr>
            </a:pPr>
            <a:r>
              <a:t>02  Поиск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3246120"/>
            <a:ext cx="310896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8253B"/>
                </a:solidFill>
                <a:latin typeface="Arial"/>
              </a:defRPr>
            </a:pPr>
            <a:r>
              <a:t>Отбирать по названию, категории,</a:t>
            </a:r>
          </a:p>
          <a:p>
            <a:pPr>
              <a:spcAft>
                <a:spcPts val="1200"/>
              </a:spcAft>
              <a:defRPr sz="2100" b="0">
                <a:solidFill>
                  <a:srgbClr val="18253B"/>
                </a:solidFill>
                <a:latin typeface="Arial"/>
              </a:defRPr>
            </a:pPr>
            <a:r>
              <a:t>цене и наличию; сортировать.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84464" y="2057400"/>
            <a:ext cx="356616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13064" y="242316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345DE3"/>
                </a:solidFill>
                <a:latin typeface="Arial"/>
              </a:defRPr>
            </a:pPr>
            <a:r>
              <a:t>03  Корректность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13064" y="3246120"/>
            <a:ext cx="310896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8253B"/>
                </a:solidFill>
                <a:latin typeface="Arial"/>
              </a:defRPr>
            </a:pPr>
            <a:r>
              <a:t>Проверять ввод, уникальность</a:t>
            </a:r>
          </a:p>
          <a:p>
            <a:pPr>
              <a:spcAft>
                <a:spcPts val="1200"/>
              </a:spcAft>
              <a:defRPr sz="2100" b="0">
                <a:solidFill>
                  <a:srgbClr val="18253B"/>
                </a:solidFill>
                <a:latin typeface="Arial"/>
              </a:defRPr>
            </a:pPr>
            <a:r>
              <a:t>и связи; подтверждать удаление.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118872" cy="429768"/>
          </a:xfrm>
          <a:prstGeom prst="rect">
            <a:avLst/>
          </a:prstGeom>
          <a:solidFill>
            <a:srgbClr val="345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8253B"/>
                </a:solidFill>
                <a:latin typeface="Arial"/>
              </a:defRPr>
            </a:pPr>
            <a:r>
              <a:t>Модель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Arial"/>
              </a:defRPr>
            </a:pPr>
            <a:r>
              <a:t>Одна категория — много товаров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МФЮА · Учебный проект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03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411480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345DE3"/>
                </a:solidFill>
                <a:latin typeface="Arial"/>
              </a:defRPr>
            </a:pPr>
            <a:r>
              <a:t>КАТЕГОРИЯ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63240"/>
            <a:ext cx="3566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8253B"/>
                </a:solidFill>
                <a:latin typeface="Arial"/>
              </a:defRPr>
            </a:pPr>
            <a:r>
              <a:t>id — первичный ключ</a:t>
            </a:r>
          </a:p>
          <a:p>
            <a:pPr>
              <a:spcAft>
                <a:spcPts val="1200"/>
              </a:spcAft>
              <a:defRPr sz="2200" b="0">
                <a:solidFill>
                  <a:srgbClr val="18253B"/>
                </a:solidFill>
                <a:latin typeface="Arial"/>
              </a:defRPr>
            </a:pPr>
            <a:r>
              <a:t>Название — уникальное</a:t>
            </a:r>
          </a:p>
          <a:p>
            <a:pPr>
              <a:spcAft>
                <a:spcPts val="1200"/>
              </a:spcAft>
              <a:defRPr sz="2200" b="0">
                <a:solidFill>
                  <a:srgbClr val="18253B"/>
                </a:solidFill>
                <a:latin typeface="Arial"/>
              </a:defRPr>
            </a:pPr>
            <a:r>
              <a:t>Описание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2011680"/>
            <a:ext cx="466344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3317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345DE3"/>
                </a:solidFill>
                <a:latin typeface="Arial"/>
              </a:defRPr>
            </a:pPr>
            <a:r>
              <a:t>ТОВАР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3063240"/>
            <a:ext cx="40233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8253B"/>
                </a:solidFill>
                <a:latin typeface="Arial"/>
              </a:defRPr>
            </a:pPr>
            <a:r>
              <a:t>id · category_id · название</a:t>
            </a:r>
          </a:p>
          <a:p>
            <a:pPr>
              <a:spcAft>
                <a:spcPts val="1200"/>
              </a:spcAft>
              <a:defRPr sz="2100" b="0">
                <a:solidFill>
                  <a:srgbClr val="18253B"/>
                </a:solidFill>
                <a:latin typeface="Arial"/>
              </a:defRPr>
            </a:pPr>
            <a:r>
              <a:t>Уникальный артикул</a:t>
            </a:r>
          </a:p>
          <a:p>
            <a:pPr>
              <a:spcAft>
                <a:spcPts val="1200"/>
              </a:spcAft>
              <a:defRPr sz="2100" b="0">
                <a:solidFill>
                  <a:srgbClr val="18253B"/>
                </a:solidFill>
                <a:latin typeface="Arial"/>
              </a:defRPr>
            </a:pPr>
            <a:r>
              <a:t>Цена в копейках · остаток</a:t>
            </a:r>
          </a:p>
          <a:p>
            <a:pPr>
              <a:spcAft>
                <a:spcPts val="1200"/>
              </a:spcAft>
              <a:defRPr sz="2100" b="0">
                <a:solidFill>
                  <a:srgbClr val="18253B"/>
                </a:solidFill>
                <a:latin typeface="Arial"/>
              </a:defRPr>
            </a:pPr>
            <a:r>
              <a:t>Даты создания и изменения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92040" y="3749039"/>
            <a:ext cx="1828800" cy="0"/>
          </a:xfrm>
          <a:prstGeom prst="line">
            <a:avLst/>
          </a:prstGeom>
          <a:ln w="25400">
            <a:solidFill>
              <a:srgbClr val="345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03520" y="3200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45DE3"/>
                </a:solidFill>
                <a:latin typeface="Arial"/>
              </a:defRPr>
            </a:pPr>
            <a:r>
              <a:t>1 : 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118872" cy="429768"/>
          </a:xfrm>
          <a:prstGeom prst="rect">
            <a:avLst/>
          </a:prstGeom>
          <a:solidFill>
            <a:srgbClr val="345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8253B"/>
                </a:solidFill>
                <a:latin typeface="Arial"/>
              </a:defRPr>
            </a:pPr>
            <a:r>
              <a:t>Как устроено приложение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Arial"/>
              </a:defRPr>
            </a:pPr>
            <a:r>
              <a:t>HTML и JSON API используют общие правила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МФЮА · Учебный проект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04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260604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345DE3"/>
                </a:solidFill>
                <a:latin typeface="Arial"/>
              </a:defRPr>
            </a:pPr>
            <a:r>
              <a:t>Браузер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64748B"/>
                </a:solidFill>
                <a:latin typeface="Arial"/>
              </a:defRPr>
            </a:pPr>
            <a:r>
              <a:t>Формы и страницы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92424" y="3108960"/>
            <a:ext cx="21031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64748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423160"/>
            <a:ext cx="260604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2743200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345DE3"/>
                </a:solidFill>
                <a:latin typeface="Arial"/>
              </a:defRPr>
            </a:pPr>
            <a:r>
              <a:t>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52044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64748B"/>
                </a:solidFill>
                <a:latin typeface="Arial"/>
              </a:defRPr>
            </a:pPr>
            <a:r>
              <a:t>HTML / 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3108960"/>
            <a:ext cx="21031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64748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423160"/>
            <a:ext cx="2606040" cy="2057400"/>
          </a:xfrm>
          <a:prstGeom prst="roundRect">
            <a:avLst/>
          </a:prstGeom>
          <a:solidFill>
            <a:srgbClr val="345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743200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catalog.py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52044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Проверки и операции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3144" y="3108960"/>
            <a:ext cx="21031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64748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2423160"/>
            <a:ext cx="260604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55480" y="2743200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345DE3"/>
                </a:solidFill>
                <a:latin typeface="Arial"/>
              </a:defRPr>
            </a:pPr>
            <a:r>
              <a:t>SQLite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352044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64748B"/>
                </a:solidFill>
                <a:latin typeface="Arial"/>
              </a:defRPr>
            </a:pPr>
            <a:r>
              <a:t>SQLAlchemy / Session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12064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8253B"/>
                </a:solidFill>
                <a:latin typeface="Arial"/>
              </a:defRPr>
            </a:pPr>
            <a:r>
              <a:t>Входные схемы → ограничения моделей → ограничения базы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118872" cy="429768"/>
          </a:xfrm>
          <a:prstGeom prst="rect">
            <a:avLst/>
          </a:prstGeom>
          <a:solidFill>
            <a:srgbClr val="345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8253B"/>
                </a:solidFill>
                <a:latin typeface="Arial"/>
              </a:defRPr>
            </a:pPr>
            <a:r>
              <a:t>Веб-интерфейс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Arial"/>
              </a:defRPr>
            </a:pPr>
            <a:r>
              <a:t>Поиск, фильтры и пагинация; адаптивные формы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МФЮА · Учебный проект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05 /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28803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8253B"/>
                </a:solidFill>
                <a:latin typeface="Arial"/>
              </a:defRPr>
            </a:pPr>
            <a:r>
              <a:t>• Товары и категории</a:t>
            </a:r>
          </a:p>
          <a:p>
            <a:pPr>
              <a:spcAft>
                <a:spcPts val="1200"/>
              </a:spcAft>
              <a:defRPr sz="2300" b="0">
                <a:solidFill>
                  <a:srgbClr val="18253B"/>
                </a:solidFill>
                <a:latin typeface="Arial"/>
              </a:defRPr>
            </a:pPr>
            <a:r>
              <a:t>• Поиск и фильтры</a:t>
            </a:r>
          </a:p>
          <a:p>
            <a:pPr>
              <a:spcAft>
                <a:spcPts val="1200"/>
              </a:spcAft>
              <a:defRPr sz="2300" b="0">
                <a:solidFill>
                  <a:srgbClr val="18253B"/>
                </a:solidFill>
                <a:latin typeface="Arial"/>
              </a:defRPr>
            </a:pPr>
            <a:r>
              <a:t>• Карточки и формы</a:t>
            </a:r>
          </a:p>
          <a:p>
            <a:pPr>
              <a:spcAft>
                <a:spcPts val="1200"/>
              </a:spcAft>
              <a:defRPr sz="2300" b="0">
                <a:solidFill>
                  <a:srgbClr val="18253B"/>
                </a:solidFill>
                <a:latin typeface="Arial"/>
              </a:defRPr>
            </a:pPr>
            <a:r>
              <a:t>• Подтверждение удаления</a:t>
            </a:r>
          </a:p>
        </p:txBody>
      </p:sp>
      <p:pic>
        <p:nvPicPr>
          <p:cNvPr id="8" name="Picture 7" descr="05-catalog-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1828800"/>
            <a:ext cx="7452360" cy="39331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118872" cy="429768"/>
          </a:xfrm>
          <a:prstGeom prst="rect">
            <a:avLst/>
          </a:prstGeom>
          <a:solidFill>
            <a:srgbClr val="345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8253B"/>
                </a:solidFill>
                <a:latin typeface="Arial"/>
              </a:defRPr>
            </a:pPr>
            <a:r>
              <a:t>Демонстрационный ассортимент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Arial"/>
              </a:defRPr>
            </a:pPr>
            <a:r>
              <a:t>Синтетические данные для функциональной демонстрации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МФЮА · Учебный проект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06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26060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4400" b="1">
                <a:solidFill>
                  <a:srgbClr val="345DE3"/>
                </a:solidFill>
                <a:latin typeface="Arial"/>
              </a:defRPr>
            </a:pPr>
            <a:r>
              <a:t>1200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64748B"/>
                </a:solidFill>
                <a:latin typeface="Arial"/>
              </a:defRPr>
            </a:pPr>
            <a:r>
              <a:t>товаров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011680"/>
            <a:ext cx="26060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2331720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4400" b="1">
                <a:solidFill>
                  <a:srgbClr val="345DE3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64748B"/>
                </a:solidFill>
                <a:latin typeface="Arial"/>
              </a:defRPr>
            </a:pPr>
            <a:r>
              <a:t>категорий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011680"/>
            <a:ext cx="26060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331720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4400" b="1">
                <a:solidFill>
                  <a:srgbClr val="345DE3"/>
                </a:solidFill>
                <a:latin typeface="Arial"/>
              </a:defRPr>
            </a:pPr>
            <a:r>
              <a:t>133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64748B"/>
                </a:solidFill>
                <a:latin typeface="Arial"/>
              </a:defRPr>
            </a:pPr>
            <a:r>
              <a:t>без наличия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2011680"/>
            <a:ext cx="26060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2331720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4400" b="1">
                <a:solidFill>
                  <a:srgbClr val="345DE3"/>
                </a:solidFill>
                <a:latin typeface="Arial"/>
              </a:defRPr>
            </a:pPr>
            <a:r>
              <a:t>120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64748B"/>
                </a:solidFill>
                <a:latin typeface="Arial"/>
              </a:defRPr>
            </a:pPr>
            <a:r>
              <a:t>страниц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1772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8253B"/>
                </a:solidFill>
                <a:latin typeface="Arial"/>
              </a:defRPr>
            </a:pPr>
            <a:r>
              <a:t>Резервная копия → одна транзакция → без перезаписи записей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864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64748B"/>
                </a:solidFill>
                <a:latin typeface="Arial"/>
              </a:defRPr>
            </a:pPr>
            <a:r>
              <a:t>Команда: python -m scripts.seed_demo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118872" cy="429768"/>
          </a:xfrm>
          <a:prstGeom prst="rect">
            <a:avLst/>
          </a:prstGeom>
          <a:solidFill>
            <a:srgbClr val="345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8253B"/>
                </a:solidFill>
                <a:latin typeface="Arial"/>
              </a:defRPr>
            </a:pPr>
            <a:r>
              <a:t>Проверка результата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Arial"/>
              </a:defRPr>
            </a:pPr>
            <a:r>
              <a:t>154 автоматических теста; реальные браузерные сценарии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МФЮА · Учебный проект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07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260604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4200" b="1">
                <a:solidFill>
                  <a:srgbClr val="345DE3"/>
                </a:solidFill>
                <a:latin typeface="Arial"/>
              </a:defRPr>
            </a:pPr>
            <a: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5468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64748B"/>
                </a:solidFill>
                <a:latin typeface="Arial"/>
              </a:defRPr>
            </a:pPr>
            <a:r>
              <a:t>База данных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011680"/>
            <a:ext cx="260604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2286000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4200" b="1">
                <a:solidFill>
                  <a:srgbClr val="345DE3"/>
                </a:solidFill>
                <a:latin typeface="Arial"/>
              </a:defRPr>
            </a:pPr>
            <a:r>
              <a:t>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15468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64748B"/>
                </a:solidFill>
                <a:latin typeface="Arial"/>
              </a:defRPr>
            </a:pPr>
            <a:r>
              <a:t>JSON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011680"/>
            <a:ext cx="260604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286000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4200" b="1">
                <a:solidFill>
                  <a:srgbClr val="345DE3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15468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64748B"/>
                </a:solidFill>
                <a:latin typeface="Arial"/>
              </a:defRPr>
            </a:pPr>
            <a:r>
              <a:t>HTML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2011680"/>
            <a:ext cx="260604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2286000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4200" b="1">
                <a:solidFill>
                  <a:srgbClr val="345DE3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15468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64748B"/>
                </a:solidFill>
                <a:latin typeface="Arial"/>
              </a:defRPr>
            </a:pPr>
            <a:r>
              <a:t>Загрузчик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348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8253B"/>
                </a:solidFill>
                <a:latin typeface="Arial"/>
              </a:defRPr>
            </a:pPr>
            <a:r>
              <a:t>14 сценариев интерфейса + 6 проверок большого каталога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0352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64748B"/>
                </a:solidFill>
                <a:latin typeface="Arial"/>
              </a:defRPr>
            </a:pPr>
            <a:r>
              <a:t>Исправлены переполнение мобильной страницы и выравнивание таблицы.</a:t>
            </a:r>
          </a:p>
          <a:p>
            <a:pPr>
              <a:spcAft>
                <a:spcPts val="1200"/>
              </a:spcAft>
              <a:defRPr sz="1900" b="0">
                <a:solidFill>
                  <a:srgbClr val="64748B"/>
                </a:solidFill>
                <a:latin typeface="Arial"/>
              </a:defRPr>
            </a:pPr>
            <a:r>
              <a:t>Отдельно проверены повторная загрузка, откат и резервная копия WAL.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118872" cy="429768"/>
          </a:xfrm>
          <a:prstGeom prst="rect">
            <a:avLst/>
          </a:prstGeom>
          <a:solidFill>
            <a:srgbClr val="345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8253B"/>
                </a:solidFill>
                <a:latin typeface="Arial"/>
              </a:defRPr>
            </a:pPr>
            <a:r>
              <a:t>Результат и развитие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64748B"/>
                </a:solidFill>
                <a:latin typeface="Arial"/>
              </a:defRPr>
            </a:pPr>
            <a:r>
              <a:t>Согласованные функции каталога реализованы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МФЮА · Учебный проект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08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44068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345DE3"/>
                </a:solidFill>
                <a:latin typeface="Arial"/>
              </a:defRPr>
            </a:pPr>
            <a:r>
              <a:t>РЕАЛИЗОВАНО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63240"/>
            <a:ext cx="48463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8253B"/>
                </a:solidFill>
                <a:latin typeface="Arial"/>
              </a:defRPr>
            </a:pPr>
            <a:r>
              <a:t>Товары и категории</a:t>
            </a:r>
          </a:p>
          <a:p>
            <a:pPr>
              <a:spcAft>
                <a:spcPts val="1200"/>
              </a:spcAft>
              <a:defRPr sz="2300" b="0">
                <a:solidFill>
                  <a:srgbClr val="18253B"/>
                </a:solidFill>
                <a:latin typeface="Arial"/>
              </a:defRPr>
            </a:pPr>
            <a:r>
              <a:t>Карточки, поиск, фильтры</a:t>
            </a:r>
          </a:p>
          <a:p>
            <a:pPr>
              <a:spcAft>
                <a:spcPts val="1200"/>
              </a:spcAft>
              <a:defRPr sz="2300" b="0">
                <a:solidFill>
                  <a:srgbClr val="18253B"/>
                </a:solidFill>
                <a:latin typeface="Arial"/>
              </a:defRPr>
            </a:pPr>
            <a:r>
              <a:t>Проверка ввода и целостности</a:t>
            </a:r>
          </a:p>
          <a:p>
            <a:pPr>
              <a:spcAft>
                <a:spcPts val="1200"/>
              </a:spcAft>
              <a:defRPr sz="2300" b="0">
                <a:solidFill>
                  <a:srgbClr val="18253B"/>
                </a:solidFill>
                <a:latin typeface="Arial"/>
              </a:defRPr>
            </a:pPr>
            <a:r>
              <a:t>Воспроизводимые тесты и данные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011680"/>
            <a:ext cx="498348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331720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345DE3"/>
                </a:solidFill>
                <a:latin typeface="Arial"/>
              </a:defRPr>
            </a:pPr>
            <a:r>
              <a:t>НАПРАВЛЕНИЯ РАЗВИТИЯ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3063240"/>
            <a:ext cx="44348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8253B"/>
                </a:solidFill>
                <a:latin typeface="Arial"/>
              </a:defRPr>
            </a:pPr>
            <a:r>
              <a:t>Роли пользователей</a:t>
            </a:r>
          </a:p>
          <a:p>
            <a:pPr>
              <a:spcAft>
                <a:spcPts val="1200"/>
              </a:spcAft>
              <a:defRPr sz="2300" b="0">
                <a:solidFill>
                  <a:srgbClr val="18253B"/>
                </a:solidFill>
                <a:latin typeface="Arial"/>
              </a:defRPr>
            </a:pPr>
            <a:r>
              <a:t>История движения остатков</a:t>
            </a:r>
          </a:p>
          <a:p>
            <a:pPr>
              <a:spcAft>
                <a:spcPts val="1200"/>
              </a:spcAft>
              <a:defRPr sz="2300" b="0">
                <a:solidFill>
                  <a:srgbClr val="18253B"/>
                </a:solidFill>
                <a:latin typeface="Arial"/>
              </a:defRPr>
            </a:pPr>
            <a:r>
              <a:t>Миграции схемы</a:t>
            </a:r>
          </a:p>
          <a:p>
            <a:pPr>
              <a:spcAft>
                <a:spcPts val="1200"/>
              </a:spcAft>
              <a:defRPr sz="2300" b="0">
                <a:solidFill>
                  <a:srgbClr val="18253B"/>
                </a:solidFill>
                <a:latin typeface="Arial"/>
              </a:defRPr>
            </a:pPr>
            <a:r>
              <a:t>Многопользовательские проверки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Модуль управления каталогом товаров</dc:title>
  <dc:subject/>
  <dc:creator>Чемоданов Никита Сергеевич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